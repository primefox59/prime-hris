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6B00"/>
                </a:solidFill>
                <a:latin typeface="Consolas"/>
              </a:defRPr>
            </a:pPr>
            <a:r>
              <a:t>PROPOSAL &amp; SAMPLE PROJECT PT DWI MARTHA JAYA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SISTEM ERP &amp; HRIS TERINTEGRASI UNTUK INDUSTRI DESIGN &amp; KONSTRUKSI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Kelola seluruh proses operasional engineering, presensi kamera geotag, tim workshop fabrikasi, alokasi biaya upah per kontrak SPK, dan payroll Depnaker secara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115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365760" cy="32004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03320"/>
            <a:ext cx="969264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PRESENSI GEOTAG</a:t>
            </a:r>
          </a:p>
          <a:p>
            <a:pPr>
              <a:spcBef>
                <a:spcPts val="300"/>
              </a:spcBef>
              <a:defRPr sz="700">
                <a:solidFill>
                  <a:srgbClr val="475569"/>
                </a:solidFill>
                <a:latin typeface="Segoe UI"/>
              </a:defRPr>
            </a:pPr>
            <a:r>
              <a:t>Selfie webcam + watermark NIK, GPS &amp; waktu WIB.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1952" y="3246120"/>
            <a:ext cx="1115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93392" y="3337560"/>
            <a:ext cx="365760" cy="32004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3703320"/>
            <a:ext cx="969264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WIFI GATEWAY</a:t>
            </a:r>
          </a:p>
          <a:p>
            <a:pPr>
              <a:spcBef>
                <a:spcPts val="300"/>
              </a:spcBef>
              <a:defRPr sz="700">
                <a:solidFill>
                  <a:srgbClr val="475569"/>
                </a:solidFill>
                <a:latin typeface="Segoe UI"/>
              </a:defRPr>
            </a:pPr>
            <a:r>
              <a:t>Validasi jaringan resmi kantor anti titip absen.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72384" y="3246120"/>
            <a:ext cx="1115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63824" y="3337560"/>
            <a:ext cx="365760" cy="32004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703320"/>
            <a:ext cx="969264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PROJECT COSTING</a:t>
            </a:r>
          </a:p>
          <a:p>
            <a:pPr>
              <a:spcBef>
                <a:spcPts val="300"/>
              </a:spcBef>
              <a:defRPr sz="700">
                <a:solidFill>
                  <a:srgbClr val="475569"/>
                </a:solidFill>
                <a:latin typeface="Segoe UI"/>
              </a:defRPr>
            </a:pPr>
            <a:r>
              <a:t>Alokasi biaya upah langsung per kontrak SPK.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2816" y="3246120"/>
            <a:ext cx="1115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4255" y="3337560"/>
            <a:ext cx="365760" cy="32004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703320"/>
            <a:ext cx="969264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PAYROLL DEPNAKER</a:t>
            </a:r>
          </a:p>
          <a:p>
            <a:pPr>
              <a:spcBef>
                <a:spcPts val="300"/>
              </a:spcBef>
              <a:defRPr sz="700">
                <a:solidFill>
                  <a:srgbClr val="475569"/>
                </a:solidFill>
                <a:latin typeface="Segoe UI"/>
              </a:defRPr>
            </a:pPr>
            <a:r>
              <a:t>Formula lembur 1/173 &amp; slip resmi ber-QR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3248" y="3246120"/>
            <a:ext cx="1115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04688" y="3337560"/>
            <a:ext cx="365760" cy="32004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703320"/>
            <a:ext cx="969264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APPROVAL HUB</a:t>
            </a:r>
          </a:p>
          <a:p>
            <a:pPr>
              <a:spcBef>
                <a:spcPts val="300"/>
              </a:spcBef>
              <a:defRPr sz="700">
                <a:solidFill>
                  <a:srgbClr val="475569"/>
                </a:solidFill>
                <a:latin typeface="Segoe UI"/>
              </a:defRPr>
            </a:pPr>
            <a:r>
              <a:t>Disposisi satu pintu cuti, lembur, &amp; dinas luar.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74920"/>
            <a:ext cx="5797296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52D8"/>
                </a:solidFill>
                <a:latin typeface="Segoe UI"/>
              </a:defRPr>
            </a:pPr>
            <a:r>
              <a:t>✔ Data Akurat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Keputusan cepat berbasis data lapangan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13892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52D8"/>
                </a:solidFill>
                <a:latin typeface="Segoe UI"/>
              </a:defRPr>
            </a:pPr>
            <a:r>
              <a:t>✔ Efisiensi 90%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Pangkas rekap bulanan jadi instan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13892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52D8"/>
                </a:solidFill>
                <a:latin typeface="Segoe UI"/>
              </a:defRPr>
            </a:pPr>
            <a:r>
              <a:t>✔ Kontrol Biaya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Cegah pembengkakan upah lembur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13892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52D8"/>
                </a:solidFill>
                <a:latin typeface="Segoe UI"/>
              </a:defRPr>
            </a:pPr>
            <a:r>
              <a:t>✔ Bisnis Bertumbuh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Sistem siap skala multi-proyek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1143000"/>
            <a:ext cx="47548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1143000"/>
            <a:ext cx="475488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CBD5E1"/>
                </a:solidFill>
                <a:latin typeface="Consolas"/>
              </a:defRPr>
            </a:pPr>
            <a:r>
              <a:t>  ● ● ●  https://dmj.primeprojectx.net — Prime HRIS Live 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6002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DASHBOARD MONITORING OPERASIONAL DMJ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Proyek Berjalan: Smelter Manyar JIIPE | Sorowako SAG Mill | Workshop Fabrikasi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2240280"/>
            <a:ext cx="4389120" cy="8961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33172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TOTAL KARYAWAN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48 Personil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38 Lapangan • 10 Kantor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3291840"/>
            <a:ext cx="4389120" cy="8961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3832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0B981"/>
                </a:solidFill>
                <a:latin typeface="Consolas"/>
              </a:defRPr>
            </a:pPr>
            <a:r>
              <a:t>DISIPLIN TEPAT WAKTU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94.2%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Batas Cutoff 08:30 WIB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4343400"/>
            <a:ext cx="4389120" cy="8961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434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Consolas"/>
              </a:defRPr>
            </a:pPr>
            <a:r>
              <a:t>REALISASI LEMBUR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Rp 17.370.000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Formula Baku 1/173 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OVERVIEW SISTEM &amp; RUANG LINGKUP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Satu platform terintegrasi untuk mengelola seluruh siklus operasional kontraktor design &amp; konstruksi secara efisien dan transparan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874519"/>
            <a:ext cx="10728655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659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2D8"/>
                </a:solidFill>
                <a:latin typeface="Consolas"/>
              </a:defRPr>
            </a:pPr>
            <a:r>
              <a:t>APA ITU PRIME HRIS ENTERPRISE KONTRAKTOR INDUSTRI?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Prime HRIS Enterprise adalah sistem Enterprise Resource Planning &amp; Human Resource Information System terpadu yang dirancang khusus untuk PT Dwi Martha Jaya. Sistem mengintegrasikan seluruh rantai proses bisnis kontraktor: mulai dari penugasan engineering design, presensi kamera selfie ber-watermark permanen, penguncian jaringan WiFi gateway, akuntansi biaya upah tenaga kerja langsung per proyek konstruksi (Project Cost Accounting), hingga kalkulasi otomatis lembur Depnaker dan pencetakan slip gaji digital ber-QR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25603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52D8"/>
                </a:solidFill>
                <a:latin typeface="Consolas"/>
              </a:defRPr>
            </a:pPr>
            <a:r>
              <a:t>✔ TERINTEGRASI PENUH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Seluruh departemen engineering, workshop fabrikasi, dan site lapangan terhubung dalam satu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3291840"/>
            <a:ext cx="25603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3832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52D8"/>
                </a:solidFill>
                <a:latin typeface="Consolas"/>
              </a:defRPr>
            </a:pPr>
            <a:r>
              <a:t>✔ EFISIENSI WAKTU &amp; BIAYA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Otomatisasi 100% proses rekap absensi harian dan perhitungan upah lembur tanpa excel manual.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291840"/>
            <a:ext cx="25603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33832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52D8"/>
                </a:solidFill>
                <a:latin typeface="Consolas"/>
              </a:defRPr>
            </a:pPr>
            <a:r>
              <a:t>✔ AKURAT &amp; REAL-TIME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Stempel watermark digital NIK, Nama, GPS, dan waktu detik memastikan validitas bukti presensi.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3291840"/>
            <a:ext cx="25603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33832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52D8"/>
                </a:solidFill>
                <a:latin typeface="Consolas"/>
              </a:defRPr>
            </a:pPr>
            <a:r>
              <a:t>✔ TRANSPARAN &amp; TERKONTROL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Setiap rupiah biaya upah dialokasikan langsung ke akun proyek untuk evaluasi laba/rugi kontrak.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onsolas"/>
              </a:defRPr>
            </a:pPr>
            <a:r>
              <a:t>SOLUSI ALUR KERJA OPERASIONAL KONTRAKTOR DESIGN &amp; KONSTRUKSI (7 TAHAPAN)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1. ENGINEERING &amp;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2. FABRIKASI WORKSHOP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77056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3. SITE ERECTION / PIPING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58384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4. PRESENSI KAMERA GEOTAG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9712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5. ALOKASI BIAYA PROYEK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892040"/>
            <a:ext cx="137160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6. PAYROLL DEPNAKER 1/173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8" y="4892040"/>
            <a:ext cx="137160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750" b="1">
                <a:solidFill>
                  <a:srgbClr val="FF6B00"/>
                </a:solidFill>
                <a:latin typeface="Consolas"/>
              </a:defRPr>
            </a:pPr>
            <a:r>
              <a:t>7. SLIP RESMI &amp; QR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TUJUAN PENGEMBANGAN APLIKASI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Membantu PT Dwi Martha Jaya dalam mengelola seluruh proses bisnis design, fabrikasi, dan konstruksi secara efisien dan akuntabel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6596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207568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4144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MENGINTEGRASIKAN SELURUH PROSES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Menghubungkan tim engineering design, fabrikasi workshop, dan site konstruksi.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196596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20" y="207568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4144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MEMPERMUDAH MONITORING PRESENSI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Pemantauan kehadiran teknisi lapangan dan staf workshop secara real-time.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96596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93792" y="207568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44144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MENGONTROL BIAYA UPAH &amp; LEMBUR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Pencegahan pembengkakan biaya tenaga kerja langsung per nomor kontrak SPK.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196596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0063" y="207568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44144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MEMASTIKAN AKURASI WATERMARK FOTO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Stempel digital NIK, Nama, GPS, dan waktu WIB permanen anti titip absen.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196596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46336" y="207568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44144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MENGELOLA DATABASE &amp; MAC PERANGKAT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Sentralisasi data SDM resmi, rekening payroll, dan binding hardware perangkat.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3192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404164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40740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MENGURANGI KESALAHAN HITUNG LEMBUR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Otomatisasi formula baku Menakertrans RI (1/173 upah sejam) bebas salah.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07791" y="393192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17520" y="404164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40740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MEMPERMUDAH PENERBITAN SLIP GAJI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Cetak slip resmi berlogo PT DMJ lengkap dengan QR Code verifikasi dokumen.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393192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93792" y="404164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440740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MENYEDIAKAN FORECASTING BIAYA (EAC)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Peramalan total estimasi biaya hingga penyelesaian kontrak proyek.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0336" y="393192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70063" y="404164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0063" y="440740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SENTRALISASI DISPOSISI APPROVAL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Satu pintu persetujuan cuti tahunan, izin sakit, lembur, dan klaim reimbursement.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36608" y="3931920"/>
            <a:ext cx="2057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46336" y="4041648"/>
            <a:ext cx="438912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6336" y="4407408"/>
            <a:ext cx="18288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FLEKSIBILITAS DINAS LUAR MENDADAK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Segoe UI"/>
              </a:defRPr>
            </a:pPr>
            <a:r>
              <a:t>Bypass terkendali saat teknisi dipanggil darurat ke site klien tanpa alpa salah.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MANFAAT APLIKASI &amp; IMPACT BISNIS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Dirancang untuk memberikan kontrol penuh, efisiensi tinggi, dan pertumbuhan bisnis yang berkelanjutan bagi PT Dwi Martha Jaya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6596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10312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6888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MONITORING PROYEK REAL-TIME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Seluruh progres jam kerja teknisi di Smelter Manyar JIIPE maupun Workshop terpantau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196596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93592" y="210312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46888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TRACEABILITY &amp; AUDIT TRAIL LENGKAP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Setiap riwayat absensi tersimpan dengan bukti foto selfie dan koordinat satelit permanen.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96596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18504" y="210312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46888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KEPATUHAN REGULASI KEMENAKER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Perhitungan upah lembur sesuai Kepmenakertrans RI, terhindar dari sanksi audit ketenagakerjaan.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96596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210312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46888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PENCEGAHAN TITIP ABSEN &amp; FAKE GPS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Verifikasi berjenjang kamera + WiFi Gateway memastikan kehadiran fisik 100% sah.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06908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EFISIENSI WAKTU REKAP (HEMAT 90%)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Rekapitulasi gaji bulanan dari biasanya memakan 3 hari kerja kini selesai dalam beberapa detik.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393192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93592" y="406908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443484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DIGITALISASI DOKUMEN &amp; SLIP BER-QR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Slip gaji resmi diterbitkan secara otomatis dengan QR Code verifikasi dokumen perbankan.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93192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18504" y="406908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443484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EVALUASI LABA/RUGI PER KONTRAK SPK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Transparansi alokasi biaya upah langsung per proyek memudahkan evaluasi profitabilitas riil.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6256" y="3931920"/>
            <a:ext cx="2560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43416" y="4069080"/>
            <a:ext cx="457200" cy="292608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4434840"/>
            <a:ext cx="228600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FLEKSIBILITAS PENUGASAN SITE DARURAT</a:t>
            </a:r>
          </a:p>
          <a:p>
            <a:pPr>
              <a:spcBef>
                <a:spcPts val="3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Teknisi siap diterjunkan kapanpun dengan alur Dinas Luar Mendadak tanpa kendala absensi.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MODUL APLIKASI TERLENGKAP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Arsitektur modular menyeluruh yang mencakup 20 modul operasional proyek industri &amp; modul persetujuan terpadu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74519"/>
            <a:ext cx="10728655" cy="320040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   MODUL OPERASIONAL PROYEK &amp; WORKSHOP (20 FITUR UTAMA)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402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01. Master SDM &amp; Rekening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22402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02. SPK &amp; Kontrak Proyek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22402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03. Presensi Kamera Selfie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22402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04. Watermark NIK &amp; GPS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22402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05. Sequential WiFi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83464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06. Geofencing Satelit 100m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1" y="283464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0944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07. Form Alasan Terlambat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4064" y="283464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08. Bypass Dinas Luar Site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0336" y="283464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09. Log Riwayat &amp; Bukti Foto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283464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10. Task Delegation Teknisi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42900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502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11. Timesheet Jam Kerja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07791" y="342900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80944" y="3502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12. Formula Lembur 1/173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84064" y="342900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3502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13. Project Cost Accounting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0336" y="342900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3502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14. Forecast Anggaran (EAC)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36608" y="342900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3502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15. Warning Cost Overrun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02336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96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16. Cetak Slip Gaji QR Code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07791" y="402336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80944" y="4096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17. Ekspor CSV Bank Payroll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84064" y="402336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57216" y="4096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18. Dashboard Eksekutif SDM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0336" y="402336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3488" y="4096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19. Dashboard Finansial Kas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36608" y="402336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4096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Consolas"/>
              </a:defRPr>
            </a:pPr>
            <a:r>
              <a:t>20. Multi-Role RBAC 3-Tier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709160"/>
            <a:ext cx="10728655" cy="29260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   MODUL APPROVAL &amp; MANAJEMEN TERPADU (6 FITUR PERSATUAN)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Cuti Tahunan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Pengurangan otomatis saldo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42032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15184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Izin Sakit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Verifikasi surat dokter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52544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25696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Dispensasi Terlambat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Pembebasan penalti gaji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63055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207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Disposisi Dinas Luar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Validasi SPK &amp; foto geotag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73568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0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Reimbursement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Klaim bensin, tol &amp; material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84080" y="5047488"/>
            <a:ext cx="1719072" cy="777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57232" y="5102352"/>
            <a:ext cx="1572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6B00"/>
                </a:solidFill>
                <a:latin typeface="Segoe UI"/>
              </a:defRPr>
            </a:pPr>
            <a:r>
              <a:t>✔ Laporan Rekapitulasi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Audit trail lengkap HRD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ESTIMASI BIAYA PENGEMBANGAN &amp; STRUKTUR HARGA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Pilihan paket investasi transparan: Paket Dasar ekonomis, Add-On modular fleksibel, dan Paket Komplit All-in paling hemat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34290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1874519"/>
            <a:ext cx="1645920" cy="237744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PAKET DASAR HRIS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3154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Paket Dasar HRIS</a:t>
            </a:r>
          </a:p>
          <a:p>
            <a:pPr>
              <a:defRPr sz="1600" b="1">
                <a:solidFill>
                  <a:srgbClr val="0D52D8"/>
                </a:solidFill>
                <a:latin typeface="Segoe UI"/>
              </a:defRPr>
            </a:pPr>
            <a:r>
              <a:t>Rp 2.500.000 </a:t>
            </a:r>
            <a:r>
              <a:rPr sz="850" b="0">
                <a:solidFill>
                  <a:srgbClr val="475569"/>
                </a:solidFill>
                <a:latin typeface="Consolas"/>
              </a:rPr>
              <a:t>(1x Bayar)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88920"/>
            <a:ext cx="315468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/>
          <a:lstStyle/>
          <a:p>
            <a:pPr algn="ctr">
              <a:defRPr sz="750" b="1">
                <a:solidFill>
                  <a:srgbClr val="FF6B00"/>
                </a:solidFill>
                <a:latin typeface="Consolas"/>
              </a:defRPr>
            </a:pPr>
            <a:r>
              <a:t>Biaya Cloud Running Apps: Rp 35.000 / Bulan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Deployment online gratis &amp; auto-backup database berkala.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315468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 b="1">
                <a:solidFill>
                  <a:srgbClr val="0F172A"/>
                </a:solidFill>
                <a:latin typeface="Consolas"/>
              </a:defRPr>
            </a:pPr>
            <a:r>
              <a:t>Alokasi Penyimpanan: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1 GB Storage Aktif  •  ✔ 10 GB Backup Cadangan Otomatis</a:t>
            </a:r>
          </a:p>
          <a:p>
            <a:pPr>
              <a:spcBef>
                <a:spcPts val="300"/>
              </a:spcBef>
              <a:defRPr sz="750" b="1">
                <a:solidFill>
                  <a:srgbClr val="0F172A"/>
                </a:solidFill>
                <a:latin typeface="Consolas"/>
              </a:defRPr>
            </a:pPr>
            <a:r>
              <a:t>Fitur Sudah Termasuk: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Dashboard HRIS Desktop / Web Lengkap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Manajemen Karyawan &amp; Aturan Shift Kerja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Hitung Gaji Otomatis &amp; Cetak Slip Ber-QR Code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Approval Cuti, Izin &amp; Sakit Online Mandiri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Subdomain Gratis (dmj.primeprojectx.net)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572000"/>
            <a:ext cx="3154680" cy="21945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✔ Terpilih: Paket Dasar (Rp 2.5 Juta)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1783080"/>
            <a:ext cx="34290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17136" y="1874519"/>
            <a:ext cx="2011680" cy="23774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Consolas"/>
              </a:defRPr>
            </a:pPr>
            <a:r>
              <a:t>+ FITUR TAMBAHAN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148840"/>
            <a:ext cx="3154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Pilihan Add-On</a:t>
            </a:r>
          </a:p>
          <a:p>
            <a:pPr>
              <a:defRPr sz="700">
                <a:solidFill>
                  <a:srgbClr val="475569"/>
                </a:solidFill>
                <a:latin typeface="Segoe UI"/>
              </a:defRPr>
            </a:pPr>
            <a:r>
              <a:t>Bisa ditambah sesuai kebutuhan spesifik kantor DMJ: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7136" y="2578608"/>
            <a:ext cx="3154680" cy="3566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/>
          <a:lstStyle/>
          <a:p>
            <a:pPr algn="ctr">
              <a:defRPr sz="720" b="1">
                <a:solidFill>
                  <a:srgbClr val="0F172A"/>
                </a:solidFill>
                <a:latin typeface="Consolas"/>
              </a:defRPr>
            </a:pPr>
            <a:r>
              <a:t>Kunci WiFi Kantor</a:t>
            </a:r>
            <a:r>
              <a:rPr b="1">
                <a:solidFill>
                  <a:srgbClr val="0D52D8"/>
                </a:solidFill>
              </a:rPr>
              <a:t>  (Rp 1.000.000)</a:t>
            </a:r>
          </a:p>
          <a:p>
            <a:pPr>
              <a:defRPr sz="620">
                <a:solidFill>
                  <a:srgbClr val="475569"/>
                </a:solidFill>
                <a:latin typeface="Segoe UI"/>
              </a:defRPr>
            </a:pPr>
            <a:r>
              <a:t>Kunci tombol absensi wajib terkoneksi WiFi kantor/workshop DMJ.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2971800"/>
            <a:ext cx="3154680" cy="35661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/>
          <a:lstStyle/>
          <a:p>
            <a:pPr algn="ctr">
              <a:defRPr sz="720" b="1">
                <a:solidFill>
                  <a:srgbClr val="0F172A"/>
                </a:solidFill>
                <a:latin typeface="Consolas"/>
              </a:defRPr>
            </a:pPr>
            <a:r>
              <a:t>Mobile Version (Smartphone)</a:t>
            </a:r>
            <a:r>
              <a:rPr b="1">
                <a:solidFill>
                  <a:srgbClr val="10B981"/>
                </a:solidFill>
              </a:rPr>
              <a:t>  (Rp 1.000.000)</a:t>
            </a:r>
          </a:p>
          <a:p>
            <a:pPr>
              <a:defRPr sz="620">
                <a:solidFill>
                  <a:srgbClr val="475569"/>
                </a:solidFill>
                <a:latin typeface="Segoe UI"/>
              </a:defRPr>
            </a:pPr>
            <a:r>
              <a:t>Akses web HP: presensi, selfie biometrik, GPS native &amp; slip mandiri.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17136" y="3364991"/>
            <a:ext cx="3154680" cy="35661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/>
          <a:lstStyle/>
          <a:p>
            <a:pPr algn="ctr">
              <a:defRPr sz="720" b="1">
                <a:solidFill>
                  <a:srgbClr val="0F172A"/>
                </a:solidFill>
                <a:latin typeface="Consolas"/>
              </a:defRPr>
            </a:pPr>
            <a:r>
              <a:t>Source Code (Offline)</a:t>
            </a:r>
            <a:r>
              <a:rPr b="1">
                <a:solidFill>
                  <a:srgbClr val="FF6B00"/>
                </a:solidFill>
              </a:rPr>
              <a:t>  (Rp 200.000)</a:t>
            </a:r>
          </a:p>
          <a:p>
            <a:pPr>
              <a:defRPr sz="620">
                <a:solidFill>
                  <a:srgbClr val="475569"/>
                </a:solidFill>
                <a:latin typeface="Segoe UI"/>
              </a:defRPr>
            </a:pPr>
            <a:r>
              <a:t>Lisensi source code untuk dijalankan di PC kantor tanpa biaya cloud.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7136" y="3758183"/>
            <a:ext cx="3154680" cy="3566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/>
          <a:lstStyle/>
          <a:p>
            <a:pPr algn="ctr">
              <a:defRPr sz="720" b="1">
                <a:solidFill>
                  <a:srgbClr val="0F172A"/>
                </a:solidFill>
                <a:latin typeface="Consolas"/>
              </a:defRPr>
            </a:pPr>
            <a:r>
              <a:t>Domain DMJhris.com</a:t>
            </a:r>
            <a:r>
              <a:rPr b="1">
                <a:solidFill>
                  <a:srgbClr val="0D52D8"/>
                </a:solidFill>
              </a:rPr>
              <a:t>  (± Rp 250.000/thn)</a:t>
            </a:r>
          </a:p>
          <a:p>
            <a:pPr>
              <a:defRPr sz="620">
                <a:solidFill>
                  <a:srgbClr val="475569"/>
                </a:solidFill>
                <a:latin typeface="Segoe UI"/>
              </a:defRPr>
            </a:pPr>
            <a:r>
              <a:t>Gunakan domain brand sendiri. Menyesuaikan tarif registrasi resmi.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17136" y="4151376"/>
            <a:ext cx="3154680" cy="356616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/>
          <a:lstStyle/>
          <a:p>
            <a:pPr algn="ctr">
              <a:defRPr sz="720" b="1">
                <a:solidFill>
                  <a:srgbClr val="0F172A"/>
                </a:solidFill>
                <a:latin typeface="Consolas"/>
              </a:defRPr>
            </a:pPr>
            <a:r>
              <a:t>Pelatihan Full Team [BARU]</a:t>
            </a:r>
            <a:r>
              <a:rPr b="1">
                <a:solidFill>
                  <a:srgbClr val="7C3AED"/>
                </a:solidFill>
              </a:rPr>
              <a:t>  (Rp 1.000.000)</a:t>
            </a:r>
          </a:p>
          <a:p>
            <a:pPr>
              <a:defRPr sz="620">
                <a:solidFill>
                  <a:srgbClr val="475569"/>
                </a:solidFill>
                <a:latin typeface="Segoe UI"/>
              </a:defRPr>
            </a:pPr>
            <a:r>
              <a:t>Pelatihan penggunaan sistem untuk seluruh tim (semua divisi).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553712"/>
            <a:ext cx="3154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94A3B8"/>
                </a:solidFill>
                <a:latin typeface="Consolas"/>
              </a:defRPr>
            </a:pPr>
            <a:r>
              <a:t>*Modular: Bebas dipilih satuan atau All-in Paket Komplit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1783080"/>
            <a:ext cx="34290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5592" y="1874519"/>
            <a:ext cx="1737360" cy="23774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onsolas"/>
              </a:defRPr>
            </a:pPr>
            <a:r>
              <a:t>PAKET KOMPLIT (FULL SUITE)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1874519"/>
            <a:ext cx="1307592" cy="23774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onsolas"/>
              </a:defRPr>
            </a:pPr>
            <a:r>
              <a:t>👑 PALING HEMAT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2148840"/>
            <a:ext cx="3154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1600" b="1">
                <a:solidFill>
                  <a:srgbClr val="FF6B00"/>
                </a:solidFill>
                <a:latin typeface="Segoe UI"/>
              </a:defRPr>
            </a:pPr>
            <a:r>
              <a:t>Rp 5.500.000 </a:t>
            </a:r>
            <a:r>
              <a:rPr sz="850" b="0">
                <a:solidFill>
                  <a:srgbClr val="475569"/>
                </a:solidFill>
                <a:latin typeface="Consolas"/>
              </a:rPr>
              <a:t>(All-in One-Time)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5592" y="2788920"/>
            <a:ext cx="315468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/>
          <a:lstStyle/>
          <a:p>
            <a:pPr algn="ctr">
              <a:defRPr sz="750" b="1">
                <a:solidFill>
                  <a:srgbClr val="0F172A"/>
                </a:solidFill>
                <a:latin typeface="Consolas"/>
              </a:defRPr>
            </a:pPr>
            <a:r>
              <a:t>Mencakup Seluruh Modul:</a:t>
            </a:r>
          </a:p>
          <a:p>
            <a:pPr>
              <a:defRPr sz="630">
                <a:solidFill>
                  <a:srgbClr val="475569"/>
                </a:solidFill>
                <a:latin typeface="Segoe UI"/>
              </a:defRPr>
            </a:pPr>
            <a:r>
              <a:t>Paket Dasar (2,5jt) + Kunci WiFi (1jt) + Mobile (1jt) + Source Code (200rb) + Domain (250rb/thn) + Pelatihan Full Team (1jt)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3310128"/>
            <a:ext cx="315468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 b="1">
                <a:solidFill>
                  <a:srgbClr val="FF6B00"/>
                </a:solidFill>
                <a:latin typeface="Consolas"/>
              </a:defRPr>
            </a:pPr>
            <a:r>
              <a:t>Keunggulan Lengkap: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1 GB Storage + 10 GB Backup Cadangan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Akses Komplit: Desktop Web Admin + Mobile Smartphone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Pengamanan Ganda: Selfie Wajah + Kunci WiFi Kantor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Penggajian Depnaker Lengkap &amp; Slip Gaji QR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Garansi Bebas Masalah &amp; Update 12 Bulan</a:t>
            </a:r>
          </a:p>
          <a:p>
            <a:pPr>
              <a:defRPr sz="680">
                <a:solidFill>
                  <a:srgbClr val="475569"/>
                </a:solidFill>
                <a:latin typeface="Segoe UI"/>
              </a:defRPr>
            </a:pPr>
            <a:r>
              <a:t>✔ Setup Custom Domain Gratis (DMJhris.com)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4572000"/>
            <a:ext cx="3154680" cy="219456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Consolas"/>
              </a:defRPr>
            </a:pPr>
            <a:r>
              <a:t>👑 Pilih Paket Full Komplit (Semua Kebutuhan)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92040"/>
            <a:ext cx="10725912" cy="1143000"/>
          </a:xfrm>
          <a:prstGeom prst="roundRect">
            <a:avLst/>
          </a:prstGeom>
          <a:solidFill>
            <a:srgbClr val="0A192F"/>
          </a:solidFill>
          <a:ln w="1524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37760"/>
            <a:ext cx="1042416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Consolas"/>
              </a:defRPr>
            </a:pPr>
            <a:r>
              <a:t>🚀  RINCIAN BIAYA INVESTASI &amp; OPERASIONAL — PT DWI MARTHA JAYA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148072"/>
            <a:ext cx="192024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/>
          <a:lstStyle/>
          <a:p>
            <a:pPr algn="ctr">
              <a:defRPr sz="650" b="1">
                <a:solidFill>
                  <a:srgbClr val="FFFFFF"/>
                </a:solidFill>
                <a:latin typeface="Consolas"/>
              </a:defRPr>
            </a:pPr>
            <a:r>
              <a:t>1. PAKET DASAR HRIS</a:t>
            </a:r>
          </a:p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Rp 2.500.000 (1x)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8063" y="5148072"/>
            <a:ext cx="182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90087" y="5148072"/>
            <a:ext cx="1737360" cy="329184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/>
          <a:lstStyle/>
          <a:p>
            <a:pPr algn="ctr">
              <a:defRPr sz="650" b="1">
                <a:solidFill>
                  <a:srgbClr val="FFFFFF"/>
                </a:solidFill>
                <a:latin typeface="Consolas"/>
              </a:defRPr>
            </a:pPr>
            <a:r>
              <a:t>2. ADD-ON TERPILIH</a:t>
            </a:r>
          </a:p>
          <a:p>
            <a:pPr algn="ctr">
              <a:defRPr sz="700" b="1">
                <a:solidFill>
                  <a:srgbClr val="3B82F6"/>
                </a:solidFill>
                <a:latin typeface="Consolas"/>
              </a:defRPr>
            </a:pPr>
            <a:r>
              <a:t>(Opsional)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5148072"/>
            <a:ext cx="182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28616" y="5148072"/>
            <a:ext cx="1920240" cy="329184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/>
          <a:lstStyle/>
          <a:p>
            <a:pPr algn="ctr">
              <a:defRPr sz="650" b="1">
                <a:solidFill>
                  <a:srgbClr val="FFFFFF"/>
                </a:solidFill>
                <a:latin typeface="Consolas"/>
              </a:defRPr>
            </a:pPr>
            <a:r>
              <a:t>3. PELATIHAN FULL TEAM</a:t>
            </a:r>
          </a:p>
          <a:p>
            <a:pPr algn="ctr">
              <a:defRPr sz="700" b="1">
                <a:solidFill>
                  <a:srgbClr val="A855F7"/>
                </a:solidFill>
                <a:latin typeface="Consolas"/>
              </a:defRPr>
            </a:pPr>
            <a:r>
              <a:t>Rp 1.000.000 (1x)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148072"/>
            <a:ext cx="182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50024" y="5148072"/>
            <a:ext cx="1920240" cy="329184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/>
          <a:lstStyle/>
          <a:p>
            <a:pPr algn="ctr">
              <a:defRPr sz="650" b="1">
                <a:solidFill>
                  <a:srgbClr val="FFFFFF"/>
                </a:solidFill>
                <a:latin typeface="Consolas"/>
              </a:defRPr>
            </a:pPr>
            <a:r>
              <a:t>4. CLOUD &amp; INFRASTRUKTUR</a:t>
            </a:r>
          </a:p>
          <a:p>
            <a:pPr algn="ctr">
              <a:defRPr sz="700" b="1">
                <a:solidFill>
                  <a:srgbClr val="06B6D4"/>
                </a:solidFill>
                <a:latin typeface="Consolas"/>
              </a:defRPr>
            </a:pPr>
            <a:r>
              <a:t>Rp 35.000 / Bln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5148072"/>
            <a:ext cx="182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71432" y="5148072"/>
            <a:ext cx="2103120" cy="329184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/>
          <a:lstStyle/>
          <a:p>
            <a:pPr algn="ctr">
              <a:defRPr sz="650" b="1">
                <a:solidFill>
                  <a:srgbClr val="FFFFFF"/>
                </a:solidFill>
                <a:latin typeface="Consolas"/>
              </a:defRPr>
            </a:pPr>
            <a:r>
              <a:t>👑 PAKET FULL KOMPLIT</a:t>
            </a:r>
          </a:p>
          <a:p>
            <a:pPr algn="ctr">
              <a:defRPr sz="700" b="1">
                <a:solidFill>
                  <a:srgbClr val="FF6B00"/>
                </a:solidFill>
                <a:latin typeface="Consolas"/>
              </a:defRPr>
            </a:pPr>
            <a:r>
              <a:t>Rp 5.500.000 (1x)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25420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50" b="1">
                <a:solidFill>
                  <a:srgbClr val="CBD5E1"/>
                </a:solidFill>
                <a:latin typeface="Consolas"/>
              </a:defRPr>
            </a:pPr>
            <a:r>
              <a:t>1. PENGADAAN (1x BAYAR):</a:t>
            </a:r>
            <a:r>
              <a:rPr b="1">
                <a:solidFill>
                  <a:srgbClr val="FF6B00"/>
                </a:solidFill>
              </a:rPr>
              <a:t> Rp 5.500.000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Lisensi penggunaan sistem HRIS (Full Suite)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3008" y="5532120"/>
            <a:ext cx="25420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50" b="1">
                <a:solidFill>
                  <a:srgbClr val="CBD5E1"/>
                </a:solidFill>
                <a:latin typeface="Consolas"/>
              </a:defRPr>
            </a:pPr>
            <a:r>
              <a:t>2. SERVER CLOUD (BULANAN):</a:t>
            </a:r>
            <a:r>
              <a:rPr b="1">
                <a:solidFill>
                  <a:srgbClr val="10B981"/>
                </a:solidFill>
              </a:rPr>
              <a:t> Rp 35.000 / Bln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Layanan server cloud resmi (Rp 35rb/bln)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17336" y="5532120"/>
            <a:ext cx="25420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50" b="1">
                <a:solidFill>
                  <a:srgbClr val="CBD5E1"/>
                </a:solidFill>
                <a:latin typeface="Consolas"/>
              </a:defRPr>
            </a:pPr>
            <a:r>
              <a:t>3. ALAMAT DOMAIN (TAHUNAN):</a:t>
            </a:r>
            <a:r>
              <a:rPr b="1">
                <a:solidFill>
                  <a:srgbClr val="EFF6FF"/>
                </a:solidFill>
              </a:rPr>
              <a:t> Gratis (Rp 0)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Subdomain dmj.primeprojectx.net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3" y="5532120"/>
            <a:ext cx="25420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50" b="1">
                <a:solidFill>
                  <a:srgbClr val="CBD5E1"/>
                </a:solidFill>
                <a:latin typeface="Consolas"/>
              </a:defRPr>
            </a:pPr>
            <a:r>
              <a:t>4. STATUS SETUP &amp; DEPLOY:</a:t>
            </a:r>
            <a:r>
              <a:rPr b="1">
                <a:solidFill>
                  <a:srgbClr val="06B6D4"/>
                </a:solidFill>
              </a:rPr>
              <a:t> Online Deploy: Gratis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1 GB Storage + 10 GB Backup Cadangan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5943600" cy="5486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PRIME HRIS ENTERPRISE</a:t>
            </a:r>
          </a:p>
          <a:p>
            <a:pPr>
              <a:defRPr sz="800" b="1">
                <a:solidFill>
                  <a:srgbClr val="0D52D8"/>
                </a:solidFill>
                <a:latin typeface="Consolas"/>
              </a:defRPr>
            </a:pPr>
            <a:r>
              <a:t>INTEGRATED DESIGN &amp; CONSTRUCTION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468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D52D8"/>
                </a:solidFill>
                <a:latin typeface="Consolas"/>
              </a:defRPr>
            </a:pPr>
            <a:r>
              <a:t>DIKEMBANGKAN OLEH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Prime ProjectX (PT Prime Infinity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Profesional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Tim berpengalaman sistem industri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Terpercaya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Solusi kustom PT Dwi Martha Jaya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44768"/>
            <a:ext cx="201168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Dukungan Penuh</a:t>
            </a:r>
          </a:p>
          <a:p>
            <a:pPr>
              <a:defRPr sz="750">
                <a:solidFill>
                  <a:srgbClr val="CBD5E1"/>
                </a:solidFill>
                <a:latin typeface="Segoe UI"/>
              </a:defRPr>
            </a:pPr>
            <a:r>
              <a:t>SLA 99.9% &amp; Pendampingan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6126480"/>
            <a:ext cx="21031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700" b="1">
                <a:solidFill>
                  <a:srgbClr val="10B981"/>
                </a:solidFill>
                <a:latin typeface="Consolas"/>
              </a:defRPr>
            </a:pPr>
            <a:r>
              <a:t>HUBUNGI KAMI (WHATSAPP)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+62 895 2425 7778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JADWAL PELAKSANAAN &amp; JAMINAN SLA</a:t>
            </a:r>
          </a:p>
          <a:p>
            <a:pPr algn="ctr">
              <a:defRPr sz="900" b="1">
                <a:solidFill>
                  <a:srgbClr val="0D52D8"/>
                </a:solidFill>
                <a:latin typeface="Consolas"/>
              </a:defRPr>
            </a:pPr>
            <a:r>
              <a:t>• ──────── • ──────── •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Roadmap implementasi bertahap 5 minggu tanpa mengganggu aktivitas operasional berjalan, didukung SLA 99.9% dan garansi 12 bulan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874519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560320" cy="320040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MINGGU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24028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Sprint 1: Inception &amp; Whitelist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• Kick-off meeting &amp; analisis proses kerja</a:t>
            </a:r>
            <a:br/>
            <a:r>
              <a:t>• Whitelist SSID WiFi &amp; BSSID kantor DMJ</a:t>
            </a:r>
            <a:br/>
            <a:r>
              <a:t>• Setup database karyawan, NIK &amp; rekening</a:t>
            </a:r>
            <a:br/>
            <a:r>
              <a:t>• Konfigurasi VPS running apps &amp; SSL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1874519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874519"/>
            <a:ext cx="2560320" cy="320040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MINGGU 2-3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24028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Sprint 2: Core Development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• Implementasi kamera viewfinder &amp; watermark</a:t>
            </a:r>
            <a:br/>
            <a:r>
              <a:t>• Penguncian Sequential WiFi Gateway</a:t>
            </a:r>
            <a:br/>
            <a:r>
              <a:t>• Integrasi alur bypass Dinas Luar Mendadak</a:t>
            </a:r>
            <a:br/>
            <a:r>
              <a:t>• Pembangunan mesin payroll lembur Depnaker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74519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874519"/>
            <a:ext cx="2560320" cy="320040"/>
          </a:xfrm>
          <a:prstGeom prst="rect">
            <a:avLst/>
          </a:prstGeom>
          <a:solidFill>
            <a:srgbClr val="0D52D8"/>
          </a:solidFill>
          <a:ln>
            <a:solidFill>
              <a:srgbClr val="0D5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MINGGU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24028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Sprint 3: Testing &amp; UAT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• User Acceptance Testing (UAT) staf &amp; HR</a:t>
            </a:r>
            <a:br/>
            <a:r>
              <a:t>• Kalibrasi geofence Manyar JIIPE &amp; Surabaya</a:t>
            </a:r>
            <a:br/>
            <a:r>
              <a:t>• Pengujian simulasi anti Fake GPS / VPN</a:t>
            </a:r>
            <a:br/>
            <a:r>
              <a:t>• Verifikasi akurasi potongan BPJS &amp; PPh21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874519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256" y="1874519"/>
            <a:ext cx="2560320" cy="32004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MINGGU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24028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Sprint 4: Handover &amp; Go-Live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Segoe UI"/>
              </a:defRPr>
            </a:pPr>
            <a:r>
              <a:t>• Pelatihan HR Admin &amp; jajaran pimpinan</a:t>
            </a:r>
            <a:br/>
            <a:r>
              <a:t>• Handover dokumentasi &amp; credential akses</a:t>
            </a:r>
            <a:br/>
            <a:r>
              <a:t>• Migrasi data absensi aktif PT DMJ</a:t>
            </a:r>
            <a:br/>
            <a:r>
              <a:t>• Go-Live resmi &amp; aktivasi garansi 12 bulan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34747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4340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52D8"/>
                </a:solidFill>
                <a:latin typeface="Consolas"/>
              </a:defRPr>
            </a:pPr>
            <a:r>
              <a:t>🛡️ 99.9% UPTIME CLOUD SLA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Infrastruktur server Linux cloud berproteksi reverse proxy ganda, menjamin presensi lancar 24/7 tanpa downtime.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34747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34340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52D8"/>
                </a:solidFill>
                <a:latin typeface="Consolas"/>
              </a:defRPr>
            </a:pPr>
            <a:r>
              <a:t>🛡️ RESPON CEPAT GANGGUAN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Penanganan insiden kritis &lt; 2 Jam dan kendala moderat &lt; 6 Jam melalui jalur direct hotline WhatsApp tim pengembang.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4251960"/>
            <a:ext cx="34747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434340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00"/>
                </a:solidFill>
                <a:latin typeface="Consolas"/>
              </a:defRPr>
            </a:pPr>
            <a:r>
              <a:t>🛡️ 12 BULAN GARANSI BEBAS BUG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Pemeliharaan menyeluruh mencakup perbaikan bug dan penyesuaian regulasi ketenagakerjaan selama masa kerjasama.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